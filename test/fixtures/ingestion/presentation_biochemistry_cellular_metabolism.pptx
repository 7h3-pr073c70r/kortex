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rPr lang="en-US" sz="2800" b="1"/>
              <a:t>Bioenergetics and Cellular ATP Production</a:t>
            </a:r>
          </a:p>
          <a:p>
            <a:pPr lvl="0"/>
            <a:r>
              <a:rPr lang="en-US" sz="1800"/>
              <a:t>• Oxidation of carbohydrates, lipids, and amino acids to carbon dioxide and water</a:t>
            </a:r>
          </a:p>
          <a:p>
            <a:pPr lvl="0"/>
            <a:r>
              <a:rPr lang="en-US" sz="1800"/>
              <a:t>• Generation of electrochemical proton gradient driving ATP synthase</a:t>
            </a:r>
          </a:p>
          <a:p>
            <a:pPr lvl="0"/>
            <a:r>
              <a:rPr lang="en-US" sz="2000" i="1"/>
              <a:t>Formula: C6H12O6 + 6 O2 -&gt; 6 CO2 + 6 H2O + 30-32 ATP (Delta G = -2870 kJ/mol)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rPr lang="en-US" sz="2800" b="1"/>
              <a:t>ATP Yield Across Respiration Stages</a:t>
            </a:r>
          </a:p>
          <a:p>
            <a:pPr lvl="0"/>
            <a:r>
              <a:rPr lang="en-US" sz="1800"/>
              <a:t>• Substrate-level phosphorylation vs oxidative phosphorylation</a:t>
            </a:r>
          </a:p>
          <a:p>
            <a:pPr lvl="0"/>
            <a:r>
              <a:rPr lang="en-US" sz="1800"/>
              <a:t>• NADH yields 2.5 ATP, FADH2 yields 1.5 ATP via electron transport chain</a:t>
            </a:r>
          </a:p>
          <a:p>
            <a:r>
              <a:rPr lang="en-US" sz="1600" b="1"/>
              <a:t>[Table Data]:</a:t>
            </a:r>
          </a:p>
          <a:p>
            <a:r>
              <a:rPr lang="en-US" sz="1400"/>
              <a:t>| Stage | Direct ATP Yield | Electron Carriers | Oxidative ATP | Total ATP |</a:t>
            </a:r>
          </a:p>
          <a:p>
            <a:r>
              <a:rPr lang="en-US" sz="1400"/>
              <a:t>| Glycolysis | 2 ATP | 2 NADH | 3-5 ATP | 5-7 ATP |</a:t>
            </a:r>
          </a:p>
          <a:p>
            <a:r>
              <a:rPr lang="en-US" sz="1400"/>
              <a:t>| Pyruvate Oxidation | 0 ATP | 2 NADH | 5 ATP | 5 ATP |</a:t>
            </a:r>
          </a:p>
          <a:p>
            <a:r>
              <a:rPr lang="en-US" sz="1400"/>
              <a:t>| Citric Acid Cycle | 2 GTP (ATP) | 6 NADH + 2 FADH2 | 15 + 3 ATP | 20 ATP |</a:t>
            </a:r>
          </a:p>
          <a:p>
            <a:r>
              <a:rPr lang="en-US" sz="1400"/>
              <a:t>| Total Respiration | 4 ATP | 10 NADH + 2 FADH2 | 26-28 ATP | 30-32 ATP |</a:t>
            </a:r>
          </a:p>
        </p:txBody>
      </p:sp>
    </p:spTree>
  </p:cSld>
</p:sld>
</file>